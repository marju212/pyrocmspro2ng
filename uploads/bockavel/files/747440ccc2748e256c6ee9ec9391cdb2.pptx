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6" r:id="rId6"/>
    <p:sldId id="260" r:id="rId7"/>
    <p:sldId id="264" r:id="rId8"/>
    <p:sldId id="265" r:id="rId9"/>
    <p:sldId id="261" r:id="rId10"/>
    <p:sldId id="262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0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7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1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4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6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4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7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6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5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8AA46-1587-8F4B-8435-EFAE80E01314}" type="datetimeFigureOut">
              <a:rPr lang="en-US" smtClean="0"/>
              <a:t>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43519-1D9F-D34E-8DED-49B6A889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</a:t>
            </a:r>
            <a:r>
              <a:rPr lang="en-US" dirty="0" err="1"/>
              <a:t>gentest</a:t>
            </a:r>
            <a:r>
              <a:rPr lang="en-US" dirty="0"/>
              <a:t> </a:t>
            </a:r>
            <a:r>
              <a:rPr lang="en-US" dirty="0" err="1"/>
              <a:t>för</a:t>
            </a:r>
            <a:r>
              <a:rPr lang="en-US" dirty="0"/>
              <a:t> </a:t>
            </a:r>
            <a:r>
              <a:rPr lang="en-US" dirty="0" err="1"/>
              <a:t>alfa</a:t>
            </a:r>
            <a:r>
              <a:rPr lang="en-US" dirty="0"/>
              <a:t> S</a:t>
            </a:r>
            <a:r>
              <a:rPr lang="en-US" baseline="-25000" dirty="0"/>
              <a:t>1</a:t>
            </a:r>
            <a:r>
              <a:rPr lang="en-US" dirty="0"/>
              <a:t>-kasein </a:t>
            </a:r>
            <a:br>
              <a:rPr lang="en-US" dirty="0"/>
            </a:br>
            <a:r>
              <a:rPr lang="en-US" dirty="0"/>
              <a:t>2019-01-28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Agnes </a:t>
            </a:r>
            <a:r>
              <a:rPr lang="en-US" dirty="0" err="1"/>
              <a:t>Björks</a:t>
            </a:r>
            <a:r>
              <a:rPr lang="en-US" dirty="0"/>
              <a:t> </a:t>
            </a:r>
            <a:r>
              <a:rPr lang="en-US" dirty="0" err="1"/>
              <a:t>examensarbete</a:t>
            </a:r>
            <a:r>
              <a:rPr lang="en-US" dirty="0"/>
              <a:t> </a:t>
            </a:r>
            <a:r>
              <a:rPr lang="en-US" dirty="0" err="1"/>
              <a:t>vårterminen</a:t>
            </a:r>
            <a:r>
              <a:rPr lang="en-US" dirty="0"/>
              <a:t> 2018 </a:t>
            </a:r>
            <a:r>
              <a:rPr lang="en-US" dirty="0" err="1"/>
              <a:t>samt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hösten</a:t>
            </a:r>
            <a:r>
              <a:rPr lang="en-US" dirty="0"/>
              <a:t> 2018 </a:t>
            </a:r>
            <a:r>
              <a:rPr lang="en-US" dirty="0" err="1"/>
              <a:t>sammanställda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Anna </a:t>
            </a:r>
            <a:r>
              <a:rPr lang="en-US"/>
              <a:t>M Johansson</a:t>
            </a:r>
            <a:endParaRPr lang="en-US" dirty="0"/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7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Vad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vi </a:t>
            </a:r>
            <a:r>
              <a:rPr lang="en-US" dirty="0" err="1"/>
              <a:t>testat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Det</a:t>
            </a:r>
            <a:r>
              <a:rPr lang="en-US" dirty="0"/>
              <a:t> vi </a:t>
            </a:r>
            <a:r>
              <a:rPr lang="en-US" dirty="0" err="1"/>
              <a:t>testat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den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kallade</a:t>
            </a:r>
            <a:r>
              <a:rPr lang="en-US" dirty="0"/>
              <a:t> “</a:t>
            </a:r>
            <a:r>
              <a:rPr lang="en-US" dirty="0" err="1"/>
              <a:t>norska</a:t>
            </a:r>
            <a:r>
              <a:rPr lang="en-US" dirty="0"/>
              <a:t> </a:t>
            </a:r>
            <a:r>
              <a:rPr lang="en-US" dirty="0" err="1"/>
              <a:t>mutationen</a:t>
            </a:r>
            <a:r>
              <a:rPr lang="en-US" dirty="0"/>
              <a:t>”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en deletion </a:t>
            </a:r>
            <a:r>
              <a:rPr lang="en-US" dirty="0" err="1"/>
              <a:t>av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baspar</a:t>
            </a:r>
            <a:r>
              <a:rPr lang="en-US" dirty="0"/>
              <a:t> (</a:t>
            </a:r>
            <a:r>
              <a:rPr lang="en-US" dirty="0" err="1"/>
              <a:t>dvs</a:t>
            </a:r>
            <a:r>
              <a:rPr lang="en-US" dirty="0"/>
              <a:t> en DNA-</a:t>
            </a:r>
            <a:r>
              <a:rPr lang="en-US" dirty="0" err="1"/>
              <a:t>bokstav</a:t>
            </a:r>
            <a:r>
              <a:rPr lang="en-US" dirty="0"/>
              <a:t> </a:t>
            </a:r>
            <a:r>
              <a:rPr lang="en-US" dirty="0" err="1"/>
              <a:t>fattas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exon 12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genen</a:t>
            </a:r>
            <a:r>
              <a:rPr lang="en-US" dirty="0"/>
              <a:t> CSN1S1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kodar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proteinet</a:t>
            </a:r>
            <a:r>
              <a:rPr lang="en-US" dirty="0"/>
              <a:t> </a:t>
            </a:r>
            <a:r>
              <a:rPr lang="en-US" dirty="0" err="1"/>
              <a:t>alfa</a:t>
            </a:r>
            <a:r>
              <a:rPr lang="en-US" dirty="0"/>
              <a:t> S</a:t>
            </a:r>
            <a:r>
              <a:rPr lang="en-US" baseline="-25000" dirty="0"/>
              <a:t>1</a:t>
            </a:r>
            <a:r>
              <a:rPr lang="en-US" dirty="0"/>
              <a:t>-kasein. </a:t>
            </a:r>
          </a:p>
          <a:p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alleler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</a:t>
            </a:r>
            <a:r>
              <a:rPr lang="en-US" dirty="0"/>
              <a:t> locus: G’, A’, D’</a:t>
            </a:r>
          </a:p>
          <a:p>
            <a:r>
              <a:rPr lang="en-US" dirty="0"/>
              <a:t>Sex </a:t>
            </a:r>
            <a:r>
              <a:rPr lang="en-US" dirty="0" err="1"/>
              <a:t>möjliga</a:t>
            </a:r>
            <a:r>
              <a:rPr lang="en-US" dirty="0"/>
              <a:t> </a:t>
            </a:r>
            <a:r>
              <a:rPr lang="en-US" dirty="0" err="1"/>
              <a:t>genotyper</a:t>
            </a:r>
            <a:r>
              <a:rPr lang="en-US" dirty="0"/>
              <a:t>: G’G’, A’A’, D’D’, G’A’, G’D’, A’D’</a:t>
            </a:r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5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 </a:t>
            </a:r>
            <a:r>
              <a:rPr lang="en-US" dirty="0" err="1"/>
              <a:t>norska</a:t>
            </a:r>
            <a:r>
              <a:rPr lang="en-US" dirty="0"/>
              <a:t> </a:t>
            </a:r>
            <a:r>
              <a:rPr lang="en-US" dirty="0" err="1"/>
              <a:t>mutationen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Två</a:t>
            </a:r>
            <a:r>
              <a:rPr lang="en-US" dirty="0"/>
              <a:t> </a:t>
            </a:r>
            <a:r>
              <a:rPr lang="en-US" dirty="0" err="1"/>
              <a:t>kopior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D’ (</a:t>
            </a:r>
            <a:r>
              <a:rPr lang="en-US" dirty="0" err="1"/>
              <a:t>dvs</a:t>
            </a:r>
            <a:r>
              <a:rPr lang="en-US" dirty="0"/>
              <a:t> </a:t>
            </a:r>
            <a:r>
              <a:rPr lang="en-US" dirty="0" err="1"/>
              <a:t>genotyp</a:t>
            </a:r>
            <a:r>
              <a:rPr lang="en-US" dirty="0"/>
              <a:t> D’D’) </a:t>
            </a:r>
            <a:r>
              <a:rPr lang="en-US" dirty="0" err="1"/>
              <a:t>ger</a:t>
            </a:r>
            <a:r>
              <a:rPr lang="en-US" dirty="0"/>
              <a:t> </a:t>
            </a:r>
            <a:r>
              <a:rPr lang="en-US" dirty="0" err="1"/>
              <a:t>högre</a:t>
            </a:r>
            <a:r>
              <a:rPr lang="en-US" dirty="0"/>
              <a:t> </a:t>
            </a:r>
            <a:r>
              <a:rPr lang="en-US" dirty="0" err="1"/>
              <a:t>mjölkmängd</a:t>
            </a:r>
            <a:r>
              <a:rPr lang="en-US" dirty="0"/>
              <a:t> men </a:t>
            </a:r>
            <a:r>
              <a:rPr lang="en-US" dirty="0" err="1"/>
              <a:t>lägre</a:t>
            </a:r>
            <a:r>
              <a:rPr lang="en-US" dirty="0"/>
              <a:t> </a:t>
            </a:r>
            <a:r>
              <a:rPr lang="en-US" dirty="0" err="1"/>
              <a:t>procent</a:t>
            </a:r>
            <a:r>
              <a:rPr lang="en-US" dirty="0"/>
              <a:t> protein, </a:t>
            </a:r>
            <a:r>
              <a:rPr lang="en-US" dirty="0" err="1"/>
              <a:t>fett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laktos</a:t>
            </a:r>
            <a:r>
              <a:rPr lang="en-US" dirty="0"/>
              <a:t>.</a:t>
            </a:r>
          </a:p>
          <a:p>
            <a:r>
              <a:rPr lang="en-US" dirty="0"/>
              <a:t>I </a:t>
            </a:r>
            <a:r>
              <a:rPr lang="en-US" dirty="0" err="1"/>
              <a:t>Norge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de </a:t>
            </a:r>
            <a:r>
              <a:rPr lang="en-US" dirty="0" err="1"/>
              <a:t>lyckats</a:t>
            </a:r>
            <a:r>
              <a:rPr lang="en-US" dirty="0"/>
              <a:t> </a:t>
            </a:r>
            <a:r>
              <a:rPr lang="en-US" dirty="0" err="1"/>
              <a:t>minska</a:t>
            </a:r>
            <a:r>
              <a:rPr lang="en-US" dirty="0"/>
              <a:t> </a:t>
            </a:r>
            <a:r>
              <a:rPr lang="en-US" dirty="0" err="1"/>
              <a:t>frekvensen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D’. 2006 </a:t>
            </a:r>
            <a:r>
              <a:rPr lang="en-US" dirty="0" err="1"/>
              <a:t>var</a:t>
            </a:r>
            <a:r>
              <a:rPr lang="en-US" dirty="0"/>
              <a:t> den 74,5% </a:t>
            </a:r>
            <a:r>
              <a:rPr lang="en-US" dirty="0" err="1"/>
              <a:t>och</a:t>
            </a:r>
            <a:r>
              <a:rPr lang="en-US" dirty="0"/>
              <a:t> 2014 </a:t>
            </a:r>
            <a:r>
              <a:rPr lang="en-US" dirty="0" err="1"/>
              <a:t>var</a:t>
            </a:r>
            <a:r>
              <a:rPr lang="en-US" dirty="0"/>
              <a:t> den 67,6%</a:t>
            </a:r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9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Vilka</a:t>
            </a:r>
            <a:r>
              <a:rPr lang="en-US" dirty="0"/>
              <a:t> </a:t>
            </a:r>
            <a:r>
              <a:rPr lang="en-US" dirty="0" err="1"/>
              <a:t>djur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vi </a:t>
            </a:r>
            <a:r>
              <a:rPr lang="en-US" dirty="0" err="1"/>
              <a:t>testat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Raser</a:t>
            </a:r>
            <a:r>
              <a:rPr lang="en-US" dirty="0"/>
              <a:t>: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r>
              <a:rPr lang="en-US" dirty="0"/>
              <a:t>, men </a:t>
            </a:r>
            <a:r>
              <a:rPr lang="en-US" dirty="0" err="1"/>
              <a:t>även</a:t>
            </a:r>
            <a:r>
              <a:rPr lang="en-US" dirty="0"/>
              <a:t> </a:t>
            </a:r>
            <a:r>
              <a:rPr lang="en-US" dirty="0" err="1"/>
              <a:t>några</a:t>
            </a:r>
            <a:r>
              <a:rPr lang="en-US" dirty="0"/>
              <a:t> </a:t>
            </a:r>
            <a:r>
              <a:rPr lang="en-US" dirty="0" err="1"/>
              <a:t>Lappgetter</a:t>
            </a:r>
            <a:r>
              <a:rPr lang="en-US" dirty="0"/>
              <a:t>, </a:t>
            </a:r>
            <a:r>
              <a:rPr lang="en-US" dirty="0" err="1"/>
              <a:t>Jämtgetter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Göinggetter</a:t>
            </a:r>
            <a:r>
              <a:rPr lang="en-US" dirty="0"/>
              <a:t> </a:t>
            </a:r>
            <a:r>
              <a:rPr lang="en-US" dirty="0" err="1"/>
              <a:t>samt</a:t>
            </a:r>
            <a:r>
              <a:rPr lang="en-US" dirty="0"/>
              <a:t> </a:t>
            </a:r>
            <a:r>
              <a:rPr lang="en-US" dirty="0" err="1"/>
              <a:t>några</a:t>
            </a:r>
            <a:r>
              <a:rPr lang="en-US" dirty="0"/>
              <a:t> </a:t>
            </a:r>
            <a:r>
              <a:rPr lang="en-US" dirty="0" err="1"/>
              <a:t>blandras</a:t>
            </a:r>
            <a:r>
              <a:rPr lang="en-US" dirty="0"/>
              <a:t>.</a:t>
            </a:r>
          </a:p>
          <a:p>
            <a:r>
              <a:rPr lang="en-US" dirty="0"/>
              <a:t>I Agnes </a:t>
            </a:r>
            <a:r>
              <a:rPr lang="en-US" dirty="0" err="1"/>
              <a:t>examensarbete</a:t>
            </a:r>
            <a:r>
              <a:rPr lang="en-US" dirty="0"/>
              <a:t> </a:t>
            </a:r>
            <a:r>
              <a:rPr lang="en-US" dirty="0" err="1"/>
              <a:t>mest</a:t>
            </a:r>
            <a:r>
              <a:rPr lang="en-US" dirty="0"/>
              <a:t> getter </a:t>
            </a:r>
            <a:r>
              <a:rPr lang="en-US" dirty="0" err="1"/>
              <a:t>eftersom</a:t>
            </a:r>
            <a:r>
              <a:rPr lang="en-US" dirty="0"/>
              <a:t> </a:t>
            </a:r>
            <a:r>
              <a:rPr lang="en-US" dirty="0" err="1"/>
              <a:t>hon</a:t>
            </a:r>
            <a:r>
              <a:rPr lang="en-US" dirty="0"/>
              <a:t> </a:t>
            </a:r>
            <a:r>
              <a:rPr lang="en-US" dirty="0" err="1"/>
              <a:t>även</a:t>
            </a:r>
            <a:r>
              <a:rPr lang="en-US" dirty="0"/>
              <a:t> </a:t>
            </a:r>
            <a:r>
              <a:rPr lang="en-US" dirty="0" err="1"/>
              <a:t>undersökte</a:t>
            </a:r>
            <a:r>
              <a:rPr lang="en-US" dirty="0"/>
              <a:t> </a:t>
            </a:r>
            <a:r>
              <a:rPr lang="en-US" dirty="0" err="1"/>
              <a:t>mjölkprover</a:t>
            </a:r>
            <a:r>
              <a:rPr lang="en-US" dirty="0"/>
              <a:t>.</a:t>
            </a:r>
          </a:p>
          <a:p>
            <a:r>
              <a:rPr lang="en-US" dirty="0"/>
              <a:t>De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analyserats</a:t>
            </a:r>
            <a:r>
              <a:rPr lang="en-US" dirty="0"/>
              <a:t> under </a:t>
            </a:r>
            <a:r>
              <a:rPr lang="en-US" dirty="0" err="1"/>
              <a:t>hösten</a:t>
            </a:r>
            <a:r>
              <a:rPr lang="en-US" dirty="0"/>
              <a:t> 2018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mest</a:t>
            </a:r>
            <a:r>
              <a:rPr lang="en-US" dirty="0"/>
              <a:t> </a:t>
            </a:r>
            <a:r>
              <a:rPr lang="en-US" dirty="0" err="1"/>
              <a:t>bockar</a:t>
            </a:r>
            <a:r>
              <a:rPr lang="en-US" dirty="0"/>
              <a:t>.</a:t>
            </a:r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Provtagning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analys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Ägarna</a:t>
            </a:r>
            <a:r>
              <a:rPr lang="en-US" dirty="0"/>
              <a:t> tog </a:t>
            </a:r>
            <a:r>
              <a:rPr lang="en-US" dirty="0" err="1"/>
              <a:t>prov</a:t>
            </a:r>
            <a:r>
              <a:rPr lang="en-US" dirty="0"/>
              <a:t> med </a:t>
            </a:r>
            <a:r>
              <a:rPr lang="en-US" dirty="0" err="1"/>
              <a:t>nossvabbar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sina</a:t>
            </a:r>
            <a:r>
              <a:rPr lang="en-US" dirty="0"/>
              <a:t> </a:t>
            </a:r>
            <a:r>
              <a:rPr lang="en-US" dirty="0" err="1"/>
              <a:t>djur</a:t>
            </a:r>
            <a:r>
              <a:rPr lang="en-US" dirty="0"/>
              <a:t>.</a:t>
            </a:r>
          </a:p>
          <a:p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husdjursgenetiska</a:t>
            </a:r>
            <a:r>
              <a:rPr lang="en-US" dirty="0"/>
              <a:t> </a:t>
            </a:r>
            <a:r>
              <a:rPr lang="en-US" dirty="0" err="1"/>
              <a:t>laboratoriet</a:t>
            </a:r>
            <a:r>
              <a:rPr lang="en-US" dirty="0"/>
              <a:t> </a:t>
            </a:r>
            <a:r>
              <a:rPr lang="en-US" dirty="0" err="1"/>
              <a:t>renades</a:t>
            </a:r>
            <a:r>
              <a:rPr lang="en-US" dirty="0"/>
              <a:t> DNA </a:t>
            </a:r>
            <a:r>
              <a:rPr lang="en-US" dirty="0" err="1"/>
              <a:t>fram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nossvabbarna</a:t>
            </a:r>
            <a:r>
              <a:rPr lang="en-US" dirty="0"/>
              <a:t>.</a:t>
            </a:r>
          </a:p>
          <a:p>
            <a:r>
              <a:rPr lang="en-US" dirty="0"/>
              <a:t>En bit </a:t>
            </a:r>
            <a:r>
              <a:rPr lang="en-US" dirty="0" err="1"/>
              <a:t>av</a:t>
            </a:r>
            <a:r>
              <a:rPr lang="en-US" dirty="0"/>
              <a:t> DNA-</a:t>
            </a:r>
            <a:r>
              <a:rPr lang="en-US" dirty="0" err="1"/>
              <a:t>sekvensen</a:t>
            </a:r>
            <a:r>
              <a:rPr lang="en-US" dirty="0"/>
              <a:t> </a:t>
            </a:r>
            <a:r>
              <a:rPr lang="en-US" dirty="0" err="1"/>
              <a:t>analyserades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SLU (</a:t>
            </a:r>
            <a:r>
              <a:rPr lang="en-US" dirty="0" err="1"/>
              <a:t>våren</a:t>
            </a:r>
            <a:r>
              <a:rPr lang="en-US" dirty="0"/>
              <a:t> 2018)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Kina (</a:t>
            </a:r>
            <a:r>
              <a:rPr lang="en-US" dirty="0" err="1"/>
              <a:t>sommar-höst</a:t>
            </a:r>
            <a:r>
              <a:rPr lang="en-US" dirty="0"/>
              <a:t> 2018)</a:t>
            </a:r>
          </a:p>
          <a:p>
            <a:r>
              <a:rPr lang="en-US" dirty="0" err="1"/>
              <a:t>Mjölkproverna</a:t>
            </a:r>
            <a:r>
              <a:rPr lang="en-US" dirty="0"/>
              <a:t> </a:t>
            </a:r>
            <a:r>
              <a:rPr lang="en-US" dirty="0" err="1"/>
              <a:t>analyserades</a:t>
            </a:r>
            <a:r>
              <a:rPr lang="en-US" dirty="0"/>
              <a:t> under </a:t>
            </a:r>
            <a:r>
              <a:rPr lang="en-US" dirty="0" err="1"/>
              <a:t>handledning</a:t>
            </a:r>
            <a:r>
              <a:rPr lang="en-US" dirty="0"/>
              <a:t> av </a:t>
            </a:r>
            <a:r>
              <a:rPr lang="en-US" dirty="0" err="1"/>
              <a:t>Moinika</a:t>
            </a:r>
            <a:r>
              <a:rPr lang="en-US" dirty="0"/>
              <a:t> Johansson</a:t>
            </a:r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0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Agnes </a:t>
            </a:r>
            <a:r>
              <a:rPr lang="en-US" dirty="0" err="1"/>
              <a:t>examensarbete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48 </a:t>
            </a:r>
            <a:r>
              <a:rPr lang="en-US" dirty="0" err="1"/>
              <a:t>prover</a:t>
            </a:r>
            <a:r>
              <a:rPr lang="en-US" dirty="0"/>
              <a:t> </a:t>
            </a:r>
            <a:r>
              <a:rPr lang="en-US" dirty="0" err="1"/>
              <a:t>analyserades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den </a:t>
            </a:r>
            <a:r>
              <a:rPr lang="en-US" dirty="0" err="1"/>
              <a:t>norska</a:t>
            </a:r>
            <a:r>
              <a:rPr lang="en-US" dirty="0"/>
              <a:t> </a:t>
            </a:r>
            <a:r>
              <a:rPr lang="en-US" dirty="0" err="1"/>
              <a:t>mutationen</a:t>
            </a:r>
            <a:r>
              <a:rPr lang="en-US" dirty="0"/>
              <a:t>, 43 </a:t>
            </a:r>
            <a:r>
              <a:rPr lang="en-US" dirty="0" err="1"/>
              <a:t>av</a:t>
            </a:r>
            <a:r>
              <a:rPr lang="en-US" dirty="0"/>
              <a:t> </a:t>
            </a:r>
            <a:r>
              <a:rPr lang="en-US" dirty="0" err="1"/>
              <a:t>dem</a:t>
            </a:r>
            <a:r>
              <a:rPr lang="en-US" dirty="0"/>
              <a:t> </a:t>
            </a:r>
            <a:r>
              <a:rPr lang="en-US" dirty="0" err="1"/>
              <a:t>gav</a:t>
            </a:r>
            <a:r>
              <a:rPr lang="en-US" dirty="0"/>
              <a:t> </a:t>
            </a:r>
            <a:r>
              <a:rPr lang="en-US" dirty="0" err="1"/>
              <a:t>resultat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25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r>
              <a:rPr lang="en-US" dirty="0"/>
              <a:t> (22 getter, 3 </a:t>
            </a:r>
            <a:r>
              <a:rPr lang="en-US" dirty="0" err="1"/>
              <a:t>bockar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7 </a:t>
            </a:r>
            <a:r>
              <a:rPr lang="en-US" dirty="0" err="1"/>
              <a:t>Jämtget</a:t>
            </a:r>
            <a:r>
              <a:rPr lang="en-US" dirty="0"/>
              <a:t> (3 getter, 4 </a:t>
            </a:r>
            <a:r>
              <a:rPr lang="en-US" dirty="0" err="1"/>
              <a:t>bockar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6 </a:t>
            </a:r>
            <a:r>
              <a:rPr lang="en-US" dirty="0" err="1"/>
              <a:t>Lappget</a:t>
            </a:r>
            <a:r>
              <a:rPr lang="en-US" dirty="0"/>
              <a:t> (6 getter)</a:t>
            </a:r>
          </a:p>
          <a:p>
            <a:pPr lvl="1"/>
            <a:r>
              <a:rPr lang="en-US" dirty="0"/>
              <a:t>3 </a:t>
            </a:r>
            <a:r>
              <a:rPr lang="en-US" dirty="0" err="1"/>
              <a:t>Göingeget</a:t>
            </a:r>
            <a:r>
              <a:rPr lang="en-US" dirty="0"/>
              <a:t> (3 getter)</a:t>
            </a:r>
          </a:p>
          <a:p>
            <a:pPr lvl="1"/>
            <a:r>
              <a:rPr lang="en-US" dirty="0"/>
              <a:t>2 </a:t>
            </a:r>
            <a:r>
              <a:rPr lang="en-US" dirty="0" err="1"/>
              <a:t>Blandras</a:t>
            </a:r>
            <a:r>
              <a:rPr lang="en-US" dirty="0"/>
              <a:t> (</a:t>
            </a:r>
            <a:r>
              <a:rPr lang="en-US" dirty="0" err="1"/>
              <a:t>Jämtget</a:t>
            </a:r>
            <a:r>
              <a:rPr lang="en-US" dirty="0"/>
              <a:t> x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r>
              <a:rPr lang="en-US" dirty="0"/>
              <a:t>) (2 getter)</a:t>
            </a:r>
          </a:p>
          <a:p>
            <a:r>
              <a:rPr lang="en-US" dirty="0" err="1"/>
              <a:t>Mjölkprover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17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endParaRPr lang="en-US" dirty="0"/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7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Mjölkanalyser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Agnes </a:t>
            </a:r>
            <a:r>
              <a:rPr lang="en-US" dirty="0" err="1"/>
              <a:t>examensarbete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>
                <a:solidFill>
                  <a:schemeClr val="tx1"/>
                </a:solidFill>
              </a:rPr>
              <a:t>53% hade lågt uttryck av </a:t>
            </a:r>
            <a:r>
              <a:rPr lang="en-GB" dirty="0">
                <a:solidFill>
                  <a:schemeClr val="tx1"/>
                </a:solidFill>
              </a:rPr>
              <a:t>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r>
              <a:rPr lang="sv-SE" dirty="0">
                <a:solidFill>
                  <a:schemeClr val="tx1"/>
                </a:solidFill>
              </a:rPr>
              <a:t> </a:t>
            </a:r>
          </a:p>
          <a:p>
            <a:r>
              <a:rPr lang="sv-SE" dirty="0">
                <a:solidFill>
                  <a:schemeClr val="tx1"/>
                </a:solidFill>
              </a:rPr>
              <a:t>41% hade medium uttryck av </a:t>
            </a:r>
            <a:r>
              <a:rPr lang="en-GB" dirty="0">
                <a:solidFill>
                  <a:schemeClr val="tx1"/>
                </a:solidFill>
              </a:rPr>
              <a:t>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6% hade </a:t>
            </a:r>
            <a:r>
              <a:rPr lang="en-GB" dirty="0" err="1">
                <a:solidFill>
                  <a:schemeClr val="tx1"/>
                </a:solidFill>
              </a:rPr>
              <a:t>högt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uttryck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av</a:t>
            </a:r>
            <a:r>
              <a:rPr lang="en-GB" dirty="0">
                <a:solidFill>
                  <a:schemeClr val="tx1"/>
                </a:solidFill>
              </a:rPr>
              <a:t> 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endParaRPr lang="en-US" dirty="0"/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6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av</a:t>
            </a:r>
            <a:r>
              <a:rPr lang="en-US" dirty="0"/>
              <a:t> </a:t>
            </a:r>
            <a:r>
              <a:rPr lang="en-US" dirty="0" err="1"/>
              <a:t>genotyper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mjölk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>
                <a:solidFill>
                  <a:schemeClr val="tx1"/>
                </a:solidFill>
              </a:rPr>
              <a:t>Alla </a:t>
            </a:r>
            <a:r>
              <a:rPr lang="sv-SE" dirty="0" err="1">
                <a:solidFill>
                  <a:schemeClr val="tx1"/>
                </a:solidFill>
              </a:rPr>
              <a:t>heterozygota</a:t>
            </a:r>
            <a:r>
              <a:rPr lang="sv-SE" dirty="0">
                <a:solidFill>
                  <a:schemeClr val="tx1"/>
                </a:solidFill>
              </a:rPr>
              <a:t> getter (D’G’) hade medium eller högt uttryck av </a:t>
            </a:r>
            <a:r>
              <a:rPr lang="en-GB" dirty="0">
                <a:solidFill>
                  <a:schemeClr val="tx1"/>
                </a:solidFill>
              </a:rPr>
              <a:t>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r>
              <a:rPr lang="sv-SE" dirty="0">
                <a:solidFill>
                  <a:schemeClr val="tx1"/>
                </a:solidFill>
              </a:rPr>
              <a:t> </a:t>
            </a:r>
          </a:p>
          <a:p>
            <a:r>
              <a:rPr lang="sv-SE" dirty="0">
                <a:solidFill>
                  <a:schemeClr val="tx1"/>
                </a:solidFill>
              </a:rPr>
              <a:t>5 homozygoter (D’D’) hade medium uttryck av </a:t>
            </a:r>
            <a:r>
              <a:rPr lang="en-GB" dirty="0">
                <a:solidFill>
                  <a:schemeClr val="tx1"/>
                </a:solidFill>
              </a:rPr>
              <a:t>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9 homozygoter (D’D’) hade lågt uttryck av </a:t>
            </a:r>
            <a:r>
              <a:rPr lang="en-GB" dirty="0">
                <a:solidFill>
                  <a:schemeClr val="tx1"/>
                </a:solidFill>
              </a:rPr>
              <a:t>α</a:t>
            </a:r>
            <a:r>
              <a:rPr lang="en-GB" baseline="-25000" dirty="0">
                <a:solidFill>
                  <a:schemeClr val="tx1"/>
                </a:solidFill>
              </a:rPr>
              <a:t>s1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kasein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 err="1"/>
              <a:t>Tyvärr</a:t>
            </a:r>
            <a:r>
              <a:rPr lang="en-GB" dirty="0"/>
              <a:t> hade vi </a:t>
            </a:r>
            <a:r>
              <a:rPr lang="en-GB" dirty="0" err="1"/>
              <a:t>ingen</a:t>
            </a:r>
            <a:r>
              <a:rPr lang="en-GB" dirty="0"/>
              <a:t> get med D’A’ med </a:t>
            </a:r>
            <a:r>
              <a:rPr lang="en-GB" dirty="0" err="1"/>
              <a:t>mjölkprov</a:t>
            </a:r>
            <a:r>
              <a:rPr lang="en-GB" dirty="0"/>
              <a:t> </a:t>
            </a:r>
            <a:r>
              <a:rPr lang="en-GB" dirty="0" err="1"/>
              <a:t>så</a:t>
            </a:r>
            <a:r>
              <a:rPr lang="en-GB" dirty="0"/>
              <a:t> vi </a:t>
            </a:r>
            <a:r>
              <a:rPr lang="en-GB" dirty="0" err="1"/>
              <a:t>kunde</a:t>
            </a:r>
            <a:r>
              <a:rPr lang="en-GB" dirty="0"/>
              <a:t> </a:t>
            </a:r>
            <a:r>
              <a:rPr lang="en-GB" dirty="0" err="1"/>
              <a:t>inte</a:t>
            </a:r>
            <a:r>
              <a:rPr lang="en-GB" dirty="0"/>
              <a:t> se </a:t>
            </a:r>
            <a:r>
              <a:rPr lang="en-GB" dirty="0" err="1"/>
              <a:t>om</a:t>
            </a:r>
            <a:r>
              <a:rPr lang="en-GB" dirty="0"/>
              <a:t> </a:t>
            </a:r>
            <a:r>
              <a:rPr lang="en-GB" dirty="0" err="1"/>
              <a:t>det</a:t>
            </a:r>
            <a:r>
              <a:rPr lang="en-GB" dirty="0"/>
              <a:t> </a:t>
            </a:r>
            <a:r>
              <a:rPr lang="en-GB" dirty="0" err="1"/>
              <a:t>var</a:t>
            </a:r>
            <a:r>
              <a:rPr lang="en-GB" dirty="0"/>
              <a:t> </a:t>
            </a:r>
            <a:r>
              <a:rPr lang="en-GB" dirty="0" err="1"/>
              <a:t>skillnad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D’G’ </a:t>
            </a:r>
            <a:r>
              <a:rPr lang="en-GB" dirty="0" err="1"/>
              <a:t>och</a:t>
            </a:r>
            <a:r>
              <a:rPr lang="en-GB" dirty="0"/>
              <a:t> D’A’</a:t>
            </a:r>
            <a:endParaRPr lang="sv-SE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6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Analyser</a:t>
            </a:r>
            <a:r>
              <a:rPr lang="en-US" dirty="0"/>
              <a:t> </a:t>
            </a:r>
            <a:r>
              <a:rPr lang="en-US" dirty="0" err="1"/>
              <a:t>hösten</a:t>
            </a:r>
            <a:r>
              <a:rPr lang="en-US" dirty="0"/>
              <a:t> 2018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46 </a:t>
            </a:r>
            <a:r>
              <a:rPr lang="en-US" dirty="0" err="1"/>
              <a:t>prover</a:t>
            </a:r>
            <a:r>
              <a:rPr lang="en-US" dirty="0"/>
              <a:t> </a:t>
            </a:r>
            <a:r>
              <a:rPr lang="en-US" dirty="0" err="1"/>
              <a:t>analyserade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den </a:t>
            </a:r>
            <a:r>
              <a:rPr lang="en-US" dirty="0" err="1"/>
              <a:t>norska</a:t>
            </a:r>
            <a:r>
              <a:rPr lang="en-US" dirty="0"/>
              <a:t> </a:t>
            </a:r>
            <a:r>
              <a:rPr lang="en-US" dirty="0" err="1"/>
              <a:t>mutationen</a:t>
            </a:r>
            <a:endParaRPr lang="en-US" dirty="0"/>
          </a:p>
          <a:p>
            <a:pPr lvl="1"/>
            <a:r>
              <a:rPr lang="en-US" dirty="0"/>
              <a:t>43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r>
              <a:rPr lang="en-US" dirty="0"/>
              <a:t> (1 get, 42 </a:t>
            </a:r>
            <a:r>
              <a:rPr lang="en-US" dirty="0" err="1"/>
              <a:t>bockar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 </a:t>
            </a:r>
            <a:r>
              <a:rPr lang="en-US" dirty="0" err="1"/>
              <a:t>Jämtget</a:t>
            </a:r>
            <a:r>
              <a:rPr lang="en-US" dirty="0"/>
              <a:t> (2 getter)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Lappget</a:t>
            </a:r>
            <a:r>
              <a:rPr lang="en-US" dirty="0"/>
              <a:t> (1 get)</a:t>
            </a:r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2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Totalt</a:t>
            </a:r>
            <a:r>
              <a:rPr lang="en-US" dirty="0"/>
              <a:t> </a:t>
            </a:r>
            <a:r>
              <a:rPr lang="en-US" dirty="0" err="1"/>
              <a:t>antal</a:t>
            </a:r>
            <a:r>
              <a:rPr lang="en-US" dirty="0"/>
              <a:t> </a:t>
            </a:r>
            <a:r>
              <a:rPr lang="en-US" dirty="0" err="1"/>
              <a:t>genotyper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891147"/>
              </p:ext>
            </p:extLst>
          </p:nvPr>
        </p:nvGraphicFramePr>
        <p:xfrm>
          <a:off x="457200" y="1600200"/>
          <a:ext cx="8229600" cy="3505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Genotyp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Svensk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/>
                        <a:t>lantrasget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Jämtget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Lappget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Göingeget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Blandras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D’D’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D’A’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D’G’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A’A’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/>
                        <a:t>A'G' el G'G'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/>
                        <a:t>D'G' el A'G'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/>
                        <a:t>D'G' el A'G' el G'G'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gentest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60% </a:t>
            </a:r>
            <a:r>
              <a:rPr lang="en-US" dirty="0" err="1"/>
              <a:t>av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testade</a:t>
            </a:r>
            <a:r>
              <a:rPr lang="en-US" dirty="0"/>
              <a:t> </a:t>
            </a:r>
            <a:r>
              <a:rPr lang="en-US" dirty="0" err="1"/>
              <a:t>djur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D’D’, hos </a:t>
            </a:r>
            <a:r>
              <a:rPr lang="en-US" dirty="0" err="1"/>
              <a:t>svensk</a:t>
            </a:r>
            <a:r>
              <a:rPr lang="en-US" dirty="0"/>
              <a:t> </a:t>
            </a:r>
            <a:r>
              <a:rPr lang="en-US" dirty="0" err="1"/>
              <a:t>lantrasget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38%. </a:t>
            </a:r>
            <a:r>
              <a:rPr lang="en-US" dirty="0" err="1"/>
              <a:t>Näst</a:t>
            </a:r>
            <a:r>
              <a:rPr lang="en-US" dirty="0"/>
              <a:t> </a:t>
            </a:r>
            <a:r>
              <a:rPr lang="en-US" dirty="0" err="1"/>
              <a:t>vanligast</a:t>
            </a:r>
            <a:r>
              <a:rPr lang="en-US" dirty="0"/>
              <a:t> </a:t>
            </a:r>
            <a:r>
              <a:rPr lang="en-US" dirty="0" err="1"/>
              <a:t>genotyp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D’A’.</a:t>
            </a:r>
          </a:p>
          <a:p>
            <a:r>
              <a:rPr lang="en-US" dirty="0"/>
              <a:t>Under </a:t>
            </a:r>
            <a:r>
              <a:rPr lang="en-US" dirty="0" err="1"/>
              <a:t>höstens</a:t>
            </a:r>
            <a:r>
              <a:rPr lang="en-US" dirty="0"/>
              <a:t> </a:t>
            </a:r>
            <a:r>
              <a:rPr lang="en-US" dirty="0" err="1"/>
              <a:t>analyser</a:t>
            </a:r>
            <a:r>
              <a:rPr lang="en-US" dirty="0"/>
              <a:t> </a:t>
            </a:r>
            <a:r>
              <a:rPr lang="en-US" dirty="0" err="1"/>
              <a:t>hittades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fåtal</a:t>
            </a:r>
            <a:r>
              <a:rPr lang="en-US" dirty="0"/>
              <a:t> </a:t>
            </a:r>
            <a:r>
              <a:rPr lang="en-US" dirty="0" err="1"/>
              <a:t>bockar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alls</a:t>
            </a:r>
            <a:r>
              <a:rPr lang="en-US" dirty="0"/>
              <a:t> hade </a:t>
            </a:r>
            <a:r>
              <a:rPr lang="en-US" dirty="0" err="1"/>
              <a:t>deletionen</a:t>
            </a:r>
            <a:r>
              <a:rPr lang="en-US" dirty="0"/>
              <a:t> (D’)</a:t>
            </a:r>
          </a:p>
          <a:p>
            <a:r>
              <a:rPr lang="en-US" dirty="0" err="1"/>
              <a:t>Andelen</a:t>
            </a:r>
            <a:r>
              <a:rPr lang="en-US" dirty="0"/>
              <a:t> D’D’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lägre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totala</a:t>
            </a:r>
            <a:r>
              <a:rPr lang="en-US" dirty="0"/>
              <a:t> </a:t>
            </a:r>
            <a:r>
              <a:rPr lang="en-US" dirty="0" err="1"/>
              <a:t>resultatet</a:t>
            </a:r>
            <a:r>
              <a:rPr lang="en-US" dirty="0"/>
              <a:t> </a:t>
            </a:r>
            <a:r>
              <a:rPr lang="en-US" dirty="0" err="1"/>
              <a:t>än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Agnes </a:t>
            </a:r>
            <a:r>
              <a:rPr lang="en-US" dirty="0" err="1"/>
              <a:t>exjobb</a:t>
            </a:r>
            <a:r>
              <a:rPr lang="en-US" dirty="0"/>
              <a:t> (60% </a:t>
            </a:r>
            <a:r>
              <a:rPr lang="en-US" dirty="0" err="1"/>
              <a:t>vs</a:t>
            </a:r>
            <a:r>
              <a:rPr lang="en-US" dirty="0"/>
              <a:t> 88%). </a:t>
            </a:r>
            <a:r>
              <a:rPr lang="en-US" dirty="0" err="1"/>
              <a:t>Antingen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vi </a:t>
            </a:r>
            <a:r>
              <a:rPr lang="en-US" dirty="0" err="1"/>
              <a:t>fått</a:t>
            </a:r>
            <a:r>
              <a:rPr lang="en-US" dirty="0"/>
              <a:t> </a:t>
            </a:r>
            <a:r>
              <a:rPr lang="en-US" dirty="0" err="1"/>
              <a:t>bättre</a:t>
            </a:r>
            <a:r>
              <a:rPr lang="en-US" dirty="0"/>
              <a:t> </a:t>
            </a:r>
            <a:r>
              <a:rPr lang="en-US" dirty="0" err="1"/>
              <a:t>spridning</a:t>
            </a:r>
            <a:r>
              <a:rPr lang="en-US" dirty="0"/>
              <a:t> med </a:t>
            </a:r>
            <a:r>
              <a:rPr lang="en-US" dirty="0" err="1"/>
              <a:t>djur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fler</a:t>
            </a:r>
            <a:r>
              <a:rPr lang="en-US" dirty="0"/>
              <a:t> </a:t>
            </a:r>
            <a:r>
              <a:rPr lang="en-US" dirty="0" err="1"/>
              <a:t>besättningar</a:t>
            </a:r>
            <a:r>
              <a:rPr lang="en-US" dirty="0"/>
              <a:t>,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skiljer</a:t>
            </a:r>
            <a:r>
              <a:rPr lang="en-US" dirty="0"/>
              <a:t> sig </a:t>
            </a:r>
            <a:r>
              <a:rPr lang="en-US" dirty="0" err="1"/>
              <a:t>frekvensen</a:t>
            </a:r>
            <a:r>
              <a:rPr lang="en-US" dirty="0"/>
              <a:t> </a:t>
            </a:r>
            <a:r>
              <a:rPr lang="en-US" dirty="0" err="1"/>
              <a:t>mellan</a:t>
            </a:r>
            <a:r>
              <a:rPr lang="en-US" dirty="0"/>
              <a:t> getter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bockar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4" name="Picture 3" descr="slu_Logo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7" y="5562557"/>
            <a:ext cx="1295443" cy="129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Microsoft Office PowerPoint</Application>
  <PresentationFormat>Bildspel på skärmen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Resultat av gentest för alfa S1-kasein  2019-01-28</vt:lpstr>
      <vt:lpstr>Vad har vi testat</vt:lpstr>
      <vt:lpstr>Den norska mutationen</vt:lpstr>
      <vt:lpstr>Vilka djur har vi testat</vt:lpstr>
      <vt:lpstr>Provtagning och analys</vt:lpstr>
      <vt:lpstr>Agnes examensarbete</vt:lpstr>
      <vt:lpstr>Mjölkanalyser i Agnes examensarbete</vt:lpstr>
      <vt:lpstr>Resultat av genotyper och mjölk</vt:lpstr>
      <vt:lpstr>Analyser hösten 2018</vt:lpstr>
      <vt:lpstr>Totalt antal genotyper</vt:lpstr>
      <vt:lpstr>Resultat gentest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Johansson</dc:creator>
  <cp:lastModifiedBy>Agnes Björk</cp:lastModifiedBy>
  <cp:revision>74</cp:revision>
  <dcterms:created xsi:type="dcterms:W3CDTF">2019-01-26T20:08:51Z</dcterms:created>
  <dcterms:modified xsi:type="dcterms:W3CDTF">2019-01-27T11:30:53Z</dcterms:modified>
</cp:coreProperties>
</file>